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2803064" cy="30275784"/>
  <p:notesSz cx="30275784" cy="4280306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1FA9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623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SSA+AR</c:v>
                  </c:pt>
                  <c:pt idx="1">
                    <c:v>NeuralProphet</c:v>
                  </c:pt>
                  <c:pt idx="2">
                    <c:v>LSTM</c:v>
                  </c:pt>
                  <c:pt idx="3">
                    <c:v>LightGBM</c:v>
                  </c:pt>
                  <c:pt idx="4">
                    <c:v>ARIMA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7.31</c:v>
                </c:pt>
                <c:pt idx="1">
                  <c:v>6.43</c:v>
                </c:pt>
                <c:pt idx="2">
                  <c:v>8.56</c:v>
                </c:pt>
                <c:pt idx="3">
                  <c:v>8.8</c:v>
                </c:pt>
                <c:pt idx="4">
                  <c:v>9.3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500" u="none">
                  <a:solidFill>
                    <a:srgbClr val="1623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6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51607A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51607A"/>
                    </a:solidFill>
                    <a:latin typeface="Arial"/>
                  </a:rPr>
                  <a:t>MAPE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16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803064" cy="3200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2377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MISIS   |   Independent Coursework Project   |   2025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2834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Financial Time Series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834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Statistics vs. Machine Learning — A Comparative Study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834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Meshcheryakov   ·   Dept. of Data Science, NUST MISIS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0" y="502920"/>
            <a:ext cx="4160520" cy="23317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29352240" y="66751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29352240" y="19202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methods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49920" y="502920"/>
            <a:ext cx="4160520" cy="23317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33741360" y="66751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3741360" y="19202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market series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(FX &amp; equity)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039040" y="502920"/>
            <a:ext cx="4160520" cy="23317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38130480" y="66751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38130480" y="19202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621792" cy="621792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93592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90472" y="3547872"/>
            <a:ext cx="9244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Objectives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685800" y="4663440"/>
            <a:ext cx="10049256" cy="175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generate large, noisy, non-stationary time series. Forecasting them well underpins trading, risk management, and portfolio decisions. Classical models (ARIMA, SSA) assume stationarity and linear structure; modern ML/DL and hybrid models promise to capture nonlinear, regime-shifting behavior — but does that promise hold on real market data?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" y="6806692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" y="7373620"/>
            <a:ext cx="10049256" cy="178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21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5 forecasting methods head-to-head on the same real market data</a:t>
            </a:r>
            <a:endParaRPr lang="en-US" sz="210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21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accuracy (MAE, MSE, MAPE), stability under noise, and computational cost</a:t>
            </a:r>
            <a:endParaRPr lang="en-US" sz="2100" dirty="0"/>
          </a:p>
          <a:p>
            <a:pPr marL="254000" indent="-2540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21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the pipeline as a configurable Python tool (symbol, interval, forecast horizon)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5800" y="973886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10305796"/>
            <a:ext cx="10049256" cy="92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NumPy · pandas · scikit-learn · LightGBM · TensorFlow · PyTorch · statsmodels · pmdarima · NeuralProphet · Seaborn / Matplotlib — developed and run in Google Colab, data pulled live via the Twelve Data REST API.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85800" y="11947906"/>
            <a:ext cx="10049256" cy="3145790"/>
          </a:xfrm>
          <a:prstGeom prst="roundRect">
            <a:avLst>
              <a:gd name="adj" fmla="val 2325"/>
            </a:avLst>
          </a:prstGeom>
          <a:solidFill>
            <a:srgbClr val="EAF6F3"/>
          </a:solidFill>
          <a:ln w="12700">
            <a:solidFill>
              <a:srgbClr val="1FA9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12313666"/>
            <a:ext cx="9317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 &amp; research self-assessment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560" y="12908026"/>
            <a:ext cx="9317736" cy="1819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1300"/>
              </a:spcAft>
              <a:buSzPct val="100000"/>
              <a:buChar char="▪"/>
            </a:pPr>
            <a:r>
              <a:rPr lang="en-US" sz="19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poster fit: a concrete applied-ML task, quantitative metrics, real forecast plots, and honestly reported negative results — all read well at poster distance.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300"/>
              </a:spcAft>
              <a:buSzPct val="100000"/>
              <a:buChar char="▪"/>
            </a:pPr>
            <a:r>
              <a:rPr lang="en-US" sz="19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research, it is a solid benchmarking study rather than a novel contribution: it applies existing libraries — one library per method — to a well-posed comparison question, with no new algorithm or theory.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85800" y="15505176"/>
            <a:ext cx="10049256" cy="8138160"/>
          </a:xfrm>
          <a:prstGeom prst="roundRect">
            <a:avLst>
              <a:gd name="adj" fmla="val 899"/>
            </a:avLst>
          </a:prstGeom>
          <a:solidFill>
            <a:srgbClr val="F2F6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15870936"/>
            <a:ext cx="9317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a stronger study (priority order)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51560" y="16593312"/>
            <a:ext cx="365760" cy="36576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165750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54480" y="16520160"/>
            <a:ext cx="8814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naive baseline — </a:t>
            </a:r>
            <a:pPr indent="0" marL="0">
              <a:lnSpc>
                <a:spcPct val="112000"/>
              </a:lnSpc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persistence beats walk-forward SSA+AR on USD/RUB (0.12% vs 0.46% MAPE); confirms the concern was real.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1051560" y="17910048"/>
            <a:ext cx="365760" cy="36576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178917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554480" y="17836896"/>
            <a:ext cx="8814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forecasting protocol for every model — </a:t>
            </a:r>
            <a:pPr indent="0" marL="0">
              <a:lnSpc>
                <a:spcPct val="112000"/>
              </a:lnSpc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walk-forward ARIMA (order 5,0,5) on AAPL ties the naive baseline (0.81% vs 0.81% MAPE) instead of collapsing to a line.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1051560" y="19226784"/>
            <a:ext cx="365760" cy="36576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192084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54480" y="19153632"/>
            <a:ext cx="8814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training / inference time — </a:t>
            </a:r>
            <a:pPr indent="0" marL="0">
              <a:lnSpc>
                <a:spcPct val="112000"/>
              </a:lnSpc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ARIMA order search: 130s; LSTM fit: 100.7s (Apple M4) — now logged in the pipeline.</a:t>
            </a:r>
            <a:endParaRPr lang="en-US" sz="1750" dirty="0"/>
          </a:p>
        </p:txBody>
      </p:sp>
      <p:sp>
        <p:nvSpPr>
          <p:cNvPr id="38" name="Shape 36"/>
          <p:cNvSpPr/>
          <p:nvPr/>
        </p:nvSpPr>
        <p:spPr>
          <a:xfrm>
            <a:off x="1051560" y="20543520"/>
            <a:ext cx="365760" cy="365760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39" name="Text 37"/>
          <p:cNvSpPr/>
          <p:nvPr/>
        </p:nvSpPr>
        <p:spPr>
          <a:xfrm>
            <a:off x="1051560" y="205252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554480" y="20470368"/>
            <a:ext cx="8814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 + significance test — </a:t>
            </a:r>
            <a:pPr indent="0" marL="0">
              <a:lnSpc>
                <a:spcPct val="112000"/>
              </a:lnSpc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rolling windows, mean ± std per metric, Diebold–Mariano test between the top two models.</a:t>
            </a:r>
            <a:endParaRPr lang="en-US" sz="1750" dirty="0"/>
          </a:p>
        </p:txBody>
      </p:sp>
      <p:sp>
        <p:nvSpPr>
          <p:cNvPr id="41" name="Shape 39"/>
          <p:cNvSpPr/>
          <p:nvPr/>
        </p:nvSpPr>
        <p:spPr>
          <a:xfrm>
            <a:off x="1051560" y="21860256"/>
            <a:ext cx="365760" cy="365760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42" name="Text 40"/>
          <p:cNvSpPr/>
          <p:nvPr/>
        </p:nvSpPr>
        <p:spPr>
          <a:xfrm>
            <a:off x="1051560" y="218419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554480" y="21787104"/>
            <a:ext cx="8814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asset sample — </a:t>
            </a:r>
            <a:pPr indent="0" marL="0">
              <a:lnSpc>
                <a:spcPct val="112000"/>
              </a:lnSpc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series per class (equities, FX, maybe crypto/rates) before claiming a general ranking.</a:t>
            </a:r>
            <a:endParaRPr lang="en-US" sz="1750" dirty="0"/>
          </a:p>
        </p:txBody>
      </p:sp>
      <p:sp>
        <p:nvSpPr>
          <p:cNvPr id="44" name="Shape 42"/>
          <p:cNvSpPr/>
          <p:nvPr/>
        </p:nvSpPr>
        <p:spPr>
          <a:xfrm>
            <a:off x="11146536" y="3611880"/>
            <a:ext cx="621792" cy="621792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45" name="Text 43"/>
          <p:cNvSpPr/>
          <p:nvPr/>
        </p:nvSpPr>
        <p:spPr>
          <a:xfrm>
            <a:off x="11146536" y="3593592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11951208" y="3547872"/>
            <a:ext cx="9244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Methods</a:t>
            </a:r>
            <a:endParaRPr lang="en-US" sz="2900" dirty="0"/>
          </a:p>
        </p:txBody>
      </p:sp>
      <p:sp>
        <p:nvSpPr>
          <p:cNvPr id="47" name="Text 45"/>
          <p:cNvSpPr/>
          <p:nvPr/>
        </p:nvSpPr>
        <p:spPr>
          <a:xfrm>
            <a:off x="11146536" y="4663440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1146536" y="5230368"/>
            <a:ext cx="10049256" cy="163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1100"/>
              </a:spcAft>
              <a:buSzPct val="100000"/>
              <a:buChar char="▪"/>
            </a:pPr>
            <a:r>
              <a:rPr lang="en-US" sz="19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Twelve Data REST API (api.twelvedata.com)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100"/>
              </a:spcAft>
              <a:buSzPct val="100000"/>
              <a:buChar char="▪"/>
            </a:pPr>
            <a:r>
              <a:rPr lang="en-US" sz="19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series × 5,000 points — split 90% train / 10% test: USD/RUB (hourly), EUR/USD (daily), AAPL (daily)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100"/>
              </a:spcAft>
              <a:buSzPct val="100000"/>
              <a:buChar char="▪"/>
            </a:pPr>
            <a:r>
              <a:rPr lang="en-US" sz="19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fixed-frequency resampling and time interpolation to fill gaps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11146536" y="7400544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1146536" y="7967472"/>
            <a:ext cx="10049256" cy="658368"/>
          </a:xfrm>
          <a:prstGeom prst="roundRect">
            <a:avLst>
              <a:gd name="adj" fmla="val 9722"/>
            </a:avLst>
          </a:prstGeom>
          <a:solidFill>
            <a:srgbClr val="F2F6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375136" y="7967472"/>
            <a:ext cx="9592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from API</a:t>
            </a:r>
            <a:endParaRPr lang="en-US" sz="1750" dirty="0"/>
          </a:p>
        </p:txBody>
      </p:sp>
      <p:sp>
        <p:nvSpPr>
          <p:cNvPr id="52" name="Shape 50"/>
          <p:cNvSpPr/>
          <p:nvPr/>
        </p:nvSpPr>
        <p:spPr>
          <a:xfrm>
            <a:off x="16052292" y="8653272"/>
            <a:ext cx="237744" cy="237744"/>
          </a:xfrm>
          <a:prstGeom prst="downArrow">
            <a:avLst/>
          </a:prstGeom>
          <a:solidFill>
            <a:srgbClr val="1FA98E"/>
          </a:solidFill>
          <a:ln/>
        </p:spPr>
      </p:sp>
      <p:sp>
        <p:nvSpPr>
          <p:cNvPr id="53" name="Shape 51"/>
          <p:cNvSpPr/>
          <p:nvPr/>
        </p:nvSpPr>
        <p:spPr>
          <a:xfrm>
            <a:off x="11146536" y="8936736"/>
            <a:ext cx="10049256" cy="658368"/>
          </a:xfrm>
          <a:prstGeom prst="roundRect">
            <a:avLst>
              <a:gd name="adj" fmla="val 9722"/>
            </a:avLst>
          </a:prstGeom>
          <a:solidFill>
            <a:srgbClr val="F2F6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375136" y="8936736"/>
            <a:ext cx="9592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&amp; interpolate</a:t>
            </a:r>
            <a:endParaRPr lang="en-US" sz="1750" dirty="0"/>
          </a:p>
        </p:txBody>
      </p:sp>
      <p:sp>
        <p:nvSpPr>
          <p:cNvPr id="55" name="Shape 53"/>
          <p:cNvSpPr/>
          <p:nvPr/>
        </p:nvSpPr>
        <p:spPr>
          <a:xfrm>
            <a:off x="16052292" y="9622536"/>
            <a:ext cx="237744" cy="237744"/>
          </a:xfrm>
          <a:prstGeom prst="downArrow">
            <a:avLst/>
          </a:prstGeom>
          <a:solidFill>
            <a:srgbClr val="1FA98E"/>
          </a:solidFill>
          <a:ln/>
        </p:spPr>
      </p:sp>
      <p:sp>
        <p:nvSpPr>
          <p:cNvPr id="56" name="Shape 54"/>
          <p:cNvSpPr/>
          <p:nvPr/>
        </p:nvSpPr>
        <p:spPr>
          <a:xfrm>
            <a:off x="11146536" y="9906000"/>
            <a:ext cx="10049256" cy="658368"/>
          </a:xfrm>
          <a:prstGeom prst="roundRect">
            <a:avLst>
              <a:gd name="adj" fmla="val 9722"/>
            </a:avLst>
          </a:prstGeom>
          <a:solidFill>
            <a:srgbClr val="F2F6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375136" y="9906000"/>
            <a:ext cx="9592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</a:t>
            </a:r>
            <a:endParaRPr lang="en-US" sz="1750" dirty="0"/>
          </a:p>
        </p:txBody>
      </p:sp>
      <p:sp>
        <p:nvSpPr>
          <p:cNvPr id="58" name="Shape 56"/>
          <p:cNvSpPr/>
          <p:nvPr/>
        </p:nvSpPr>
        <p:spPr>
          <a:xfrm>
            <a:off x="16052292" y="10591800"/>
            <a:ext cx="237744" cy="237744"/>
          </a:xfrm>
          <a:prstGeom prst="downArrow">
            <a:avLst/>
          </a:prstGeom>
          <a:solidFill>
            <a:srgbClr val="1FA98E"/>
          </a:solidFill>
          <a:ln/>
        </p:spPr>
      </p:sp>
      <p:sp>
        <p:nvSpPr>
          <p:cNvPr id="59" name="Shape 57"/>
          <p:cNvSpPr/>
          <p:nvPr/>
        </p:nvSpPr>
        <p:spPr>
          <a:xfrm>
            <a:off x="11146536" y="10875264"/>
            <a:ext cx="10049256" cy="658368"/>
          </a:xfrm>
          <a:prstGeom prst="roundRect">
            <a:avLst>
              <a:gd name="adj" fmla="val 9722"/>
            </a:avLst>
          </a:prstGeom>
          <a:solidFill>
            <a:srgbClr val="F2F6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375136" y="10875264"/>
            <a:ext cx="9592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(lags, SMA, RSI, MACD)</a:t>
            </a:r>
            <a:endParaRPr lang="en-US" sz="1750" dirty="0"/>
          </a:p>
        </p:txBody>
      </p:sp>
      <p:sp>
        <p:nvSpPr>
          <p:cNvPr id="61" name="Shape 59"/>
          <p:cNvSpPr/>
          <p:nvPr/>
        </p:nvSpPr>
        <p:spPr>
          <a:xfrm>
            <a:off x="16052292" y="11561064"/>
            <a:ext cx="237744" cy="237744"/>
          </a:xfrm>
          <a:prstGeom prst="downArrow">
            <a:avLst/>
          </a:prstGeom>
          <a:solidFill>
            <a:srgbClr val="1FA98E"/>
          </a:solidFill>
          <a:ln/>
        </p:spPr>
      </p:sp>
      <p:sp>
        <p:nvSpPr>
          <p:cNvPr id="62" name="Shape 60"/>
          <p:cNvSpPr/>
          <p:nvPr/>
        </p:nvSpPr>
        <p:spPr>
          <a:xfrm>
            <a:off x="11146536" y="11844528"/>
            <a:ext cx="10049256" cy="658368"/>
          </a:xfrm>
          <a:prstGeom prst="roundRect">
            <a:avLst>
              <a:gd name="adj" fmla="val 9722"/>
            </a:avLst>
          </a:prstGeom>
          <a:solidFill>
            <a:srgbClr val="F2F6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375136" y="11844528"/>
            <a:ext cx="9592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models</a:t>
            </a:r>
            <a:endParaRPr lang="en-US" sz="1750" dirty="0"/>
          </a:p>
        </p:txBody>
      </p:sp>
      <p:sp>
        <p:nvSpPr>
          <p:cNvPr id="64" name="Shape 62"/>
          <p:cNvSpPr/>
          <p:nvPr/>
        </p:nvSpPr>
        <p:spPr>
          <a:xfrm>
            <a:off x="16052292" y="12530328"/>
            <a:ext cx="237744" cy="237744"/>
          </a:xfrm>
          <a:prstGeom prst="downArrow">
            <a:avLst/>
          </a:prstGeom>
          <a:solidFill>
            <a:srgbClr val="1FA98E"/>
          </a:solidFill>
          <a:ln/>
        </p:spPr>
      </p:sp>
      <p:sp>
        <p:nvSpPr>
          <p:cNvPr id="65" name="Shape 63"/>
          <p:cNvSpPr/>
          <p:nvPr/>
        </p:nvSpPr>
        <p:spPr>
          <a:xfrm>
            <a:off x="11146536" y="12813792"/>
            <a:ext cx="10049256" cy="658368"/>
          </a:xfrm>
          <a:prstGeom prst="roundRect">
            <a:avLst>
              <a:gd name="adj" fmla="val 9722"/>
            </a:avLst>
          </a:prstGeom>
          <a:solidFill>
            <a:srgbClr val="F2F6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375136" y="12813792"/>
            <a:ext cx="9592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MAE / MSE / MAPE</a:t>
            </a:r>
            <a:endParaRPr lang="en-US" sz="1750" dirty="0"/>
          </a:p>
        </p:txBody>
      </p:sp>
      <p:sp>
        <p:nvSpPr>
          <p:cNvPr id="67" name="Text 65"/>
          <p:cNvSpPr/>
          <p:nvPr/>
        </p:nvSpPr>
        <p:spPr>
          <a:xfrm>
            <a:off x="11146536" y="13837920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compared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11146536" y="14450568"/>
            <a:ext cx="384048" cy="384048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69" name="Text 67"/>
          <p:cNvSpPr/>
          <p:nvPr/>
        </p:nvSpPr>
        <p:spPr>
          <a:xfrm>
            <a:off x="11713464" y="14359128"/>
            <a:ext cx="9482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 —  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(p,d,q) by AIC; differencing guided by the Augmented Dickey–Fuller test.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1146536" y="15337536"/>
            <a:ext cx="384048" cy="384048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71" name="Text 69"/>
          <p:cNvSpPr/>
          <p:nvPr/>
        </p:nvSpPr>
        <p:spPr>
          <a:xfrm>
            <a:off x="11713464" y="15246096"/>
            <a:ext cx="9482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 + AR  —  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spectrum decomposition of the series; autoregressive reconstruction of the trajectory matrix.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1146536" y="16224504"/>
            <a:ext cx="384048" cy="384048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73" name="Text 71"/>
          <p:cNvSpPr/>
          <p:nvPr/>
        </p:nvSpPr>
        <p:spPr>
          <a:xfrm>
            <a:off x="11713464" y="16133064"/>
            <a:ext cx="9482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—  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recurrent network (50 units, dropout 0.2) trained on lag + technical-indicator features.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1146536" y="17111472"/>
            <a:ext cx="384048" cy="384048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75" name="Text 73"/>
          <p:cNvSpPr/>
          <p:nvPr/>
        </p:nvSpPr>
        <p:spPr>
          <a:xfrm>
            <a:off x="11713464" y="17020032"/>
            <a:ext cx="9482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—  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(200 estimators) trained on the same engineered feature set.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1146536" y="17998440"/>
            <a:ext cx="384048" cy="384048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77" name="Text 75"/>
          <p:cNvSpPr/>
          <p:nvPr/>
        </p:nvSpPr>
        <p:spPr>
          <a:xfrm>
            <a:off x="11713464" y="17907000"/>
            <a:ext cx="9482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NeuralProphet  —  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seasonality regression fused with a small neural component (7 lags).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21607272" y="3611880"/>
            <a:ext cx="621792" cy="621792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79" name="Text 77"/>
          <p:cNvSpPr/>
          <p:nvPr/>
        </p:nvSpPr>
        <p:spPr>
          <a:xfrm>
            <a:off x="21607272" y="3593592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80" name="Text 78"/>
          <p:cNvSpPr/>
          <p:nvPr/>
        </p:nvSpPr>
        <p:spPr>
          <a:xfrm>
            <a:off x="22411944" y="3547872"/>
            <a:ext cx="9244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900" dirty="0"/>
          </a:p>
        </p:txBody>
      </p:sp>
      <p:sp>
        <p:nvSpPr>
          <p:cNvPr id="81" name="Text 79"/>
          <p:cNvSpPr/>
          <p:nvPr/>
        </p:nvSpPr>
        <p:spPr>
          <a:xfrm>
            <a:off x="21607272" y="4663440"/>
            <a:ext cx="10049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trained once on the first 90% of a series and evaluated on the held-out last 10%. MSE/MAE below are for AAPL (the hardest series); MAPE is averaged across all three series.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607272" y="5751576"/>
          <a:ext cx="10049256" cy="3291840"/>
        </p:xfrm>
        <a:graphic>
          <a:graphicData uri="http://schemas.openxmlformats.org/drawingml/2006/table">
            <a:tbl>
              <a:tblPr/>
              <a:tblGrid>
                <a:gridCol w="2411821"/>
                <a:gridCol w="1929457"/>
                <a:gridCol w="1426994"/>
                <a:gridCol w="1426994"/>
                <a:gridCol w="1607881"/>
                <a:gridCol w="1447093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NeuralProphet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SSA+AR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1003.7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1051.2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1415.4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1275.6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952.6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27.36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28.13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29.36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27.29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24.84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MAPE, % (avg)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6.43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8.56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8.80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623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7.31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3" name="Text 80"/>
          <p:cNvSpPr/>
          <p:nvPr/>
        </p:nvSpPr>
        <p:spPr>
          <a:xfrm>
            <a:off x="21607272" y="9363456"/>
            <a:ext cx="10049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MAPE by model (%, lower is better)</a:t>
            </a:r>
            <a:endParaRPr lang="en-US" sz="1800" dirty="0"/>
          </a:p>
        </p:txBody>
      </p:sp>
      <p:graphicFrame>
        <p:nvGraphicFramePr>
          <p:cNvPr id="84" name="Chart 0" descr=""/>
          <p:cNvGraphicFramePr/>
          <p:nvPr/>
        </p:nvGraphicFramePr>
        <p:xfrm>
          <a:off x="21607272" y="9912096"/>
          <a:ext cx="10049256" cy="6035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5" name="Text 81"/>
          <p:cNvSpPr/>
          <p:nvPr/>
        </p:nvSpPr>
        <p:spPr>
          <a:xfrm>
            <a:off x="21607272" y="16404336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across assets</a:t>
            </a:r>
            <a:endParaRPr lang="en-US" sz="2200" dirty="0"/>
          </a:p>
        </p:txBody>
      </p:sp>
      <p:sp>
        <p:nvSpPr>
          <p:cNvPr id="86" name="Text 82"/>
          <p:cNvSpPr/>
          <p:nvPr/>
        </p:nvSpPr>
        <p:spPr>
          <a:xfrm>
            <a:off x="21607272" y="16971264"/>
            <a:ext cx="10049256" cy="157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11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Easiest: EUR/USD (smooth trend, few shocks) — almost every model tracks it well</a:t>
            </a:r>
            <a:endParaRPr lang="en-US" sz="1800" dirty="0"/>
          </a:p>
          <a:p>
            <a:pPr marL="254000" indent="-254000">
              <a:lnSpc>
                <a:spcPct val="110000"/>
              </a:lnSpc>
              <a:spcAft>
                <a:spcPts val="11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Hardest: AAPL (volatile, no stable trend) — all models struggle; ARIMA/SSA collapse toward a near-straight line</a:t>
            </a:r>
            <a:endParaRPr lang="en-US" sz="1800" dirty="0"/>
          </a:p>
          <a:p>
            <a:pPr marL="254000" indent="-254000">
              <a:lnSpc>
                <a:spcPct val="110000"/>
              </a:lnSpc>
              <a:spcAft>
                <a:spcPts val="11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and NeuralProphet are the most consistent performers across all three series</a:t>
            </a:r>
            <a:endParaRPr lang="en-US" sz="1800" dirty="0"/>
          </a:p>
        </p:txBody>
      </p:sp>
      <p:sp>
        <p:nvSpPr>
          <p:cNvPr id="87" name="Shape 83"/>
          <p:cNvSpPr/>
          <p:nvPr/>
        </p:nvSpPr>
        <p:spPr>
          <a:xfrm>
            <a:off x="21607272" y="18942304"/>
            <a:ext cx="10049256" cy="1937004"/>
          </a:xfrm>
          <a:prstGeom prst="roundRect">
            <a:avLst>
              <a:gd name="adj" fmla="val 3304"/>
            </a:avLst>
          </a:prstGeom>
          <a:solidFill>
            <a:srgbClr val="EAF6E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21927312" y="19216624"/>
            <a:ext cx="9409176" cy="138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 (verified)  —  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(naive) baseline checked post-hoc on a fresh data pull: on USD/RUB it beats walk-forward SSA+AR (0.12% vs 0.46% MAPE); on AAPL, walk-forward ARIMA(5,0,5) ties it almost exactly (0.81% vs 0.81%). Different data window than the table above (pulled ~a year apart), so treat as a qualitative check, not a re-run of the same experiment.</a:t>
            </a:r>
            <a:endParaRPr lang="en-US" sz="1650" dirty="0"/>
          </a:p>
        </p:txBody>
      </p:sp>
      <p:sp>
        <p:nvSpPr>
          <p:cNvPr id="89" name="Shape 85"/>
          <p:cNvSpPr/>
          <p:nvPr/>
        </p:nvSpPr>
        <p:spPr>
          <a:xfrm>
            <a:off x="32068008" y="3611880"/>
            <a:ext cx="621792" cy="621792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90" name="Text 86"/>
          <p:cNvSpPr/>
          <p:nvPr/>
        </p:nvSpPr>
        <p:spPr>
          <a:xfrm>
            <a:off x="32068008" y="3593592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91" name="Text 87"/>
          <p:cNvSpPr/>
          <p:nvPr/>
        </p:nvSpPr>
        <p:spPr>
          <a:xfrm>
            <a:off x="32872680" y="3547872"/>
            <a:ext cx="9244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Forecasts &amp; Conclusion</a:t>
            </a:r>
            <a:endParaRPr lang="en-US" sz="2900" dirty="0"/>
          </a:p>
        </p:txBody>
      </p:sp>
      <p:sp>
        <p:nvSpPr>
          <p:cNvPr id="92" name="Shape 88"/>
          <p:cNvSpPr/>
          <p:nvPr/>
        </p:nvSpPr>
        <p:spPr>
          <a:xfrm>
            <a:off x="32068008" y="4663440"/>
            <a:ext cx="1004925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3" name="Image 0" descr="/sessions/amazing-compassionate-ptolemy/mnt/outputs/poster_assets/plot-004_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68008" y="4663440"/>
            <a:ext cx="10049256" cy="5074920"/>
          </a:xfrm>
          <a:prstGeom prst="rect">
            <a:avLst/>
          </a:prstGeom>
        </p:spPr>
      </p:pic>
      <p:sp>
        <p:nvSpPr>
          <p:cNvPr id="94" name="Text 89"/>
          <p:cNvSpPr/>
          <p:nvPr/>
        </p:nvSpPr>
        <p:spPr>
          <a:xfrm>
            <a:off x="32068008" y="9875520"/>
            <a:ext cx="100492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case — LightGBM on EUR/USD tracks the realized price closely.</a:t>
            </a:r>
            <a:endParaRPr lang="en-US" sz="1800" dirty="0"/>
          </a:p>
        </p:txBody>
      </p:sp>
      <p:sp>
        <p:nvSpPr>
          <p:cNvPr id="95" name="Shape 90"/>
          <p:cNvSpPr/>
          <p:nvPr/>
        </p:nvSpPr>
        <p:spPr>
          <a:xfrm>
            <a:off x="32068008" y="10593324"/>
            <a:ext cx="1004925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6" name="Image 1" descr="/sessions/amazing-compassionate-ptolemy/mnt/outputs/poster_assets/plot-000_e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68008" y="10593324"/>
            <a:ext cx="10049256" cy="5074920"/>
          </a:xfrm>
          <a:prstGeom prst="rect">
            <a:avLst/>
          </a:prstGeom>
        </p:spPr>
      </p:pic>
      <p:sp>
        <p:nvSpPr>
          <p:cNvPr id="97" name="Text 91"/>
          <p:cNvSpPr/>
          <p:nvPr/>
        </p:nvSpPr>
        <p:spPr>
          <a:xfrm>
            <a:off x="32068008" y="15805404"/>
            <a:ext cx="100492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 — ARIMA on AAPL degenerates to a near-straight line, missing every swing.</a:t>
            </a:r>
            <a:endParaRPr lang="en-US" sz="1800" dirty="0"/>
          </a:p>
        </p:txBody>
      </p:sp>
      <p:sp>
        <p:nvSpPr>
          <p:cNvPr id="98" name="Text 92"/>
          <p:cNvSpPr/>
          <p:nvPr/>
        </p:nvSpPr>
        <p:spPr>
          <a:xfrm>
            <a:off x="32068008" y="1661464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99" name="Text 93"/>
          <p:cNvSpPr/>
          <p:nvPr/>
        </p:nvSpPr>
        <p:spPr>
          <a:xfrm>
            <a:off x="32068008" y="17181576"/>
            <a:ext cx="10049256" cy="211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statistical+neural models (NeuralProphet) and tree ensembles with engineered features (LightGBM) generalize best without heavy tuning</a:t>
            </a:r>
            <a:endParaRPr lang="en-US" sz="18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statistical models (ARIMA, SSA+AR) are competitive only when a series is close to stationary/linear — rare in real financial data</a:t>
            </a:r>
            <a:endParaRPr lang="en-US" sz="18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an open, configurable pipeline — analysts pick a symbol, interval and forecast horizon</a:t>
            </a:r>
            <a:endParaRPr lang="en-US" sz="1800" dirty="0"/>
          </a:p>
        </p:txBody>
      </p:sp>
      <p:sp>
        <p:nvSpPr>
          <p:cNvPr id="100" name="Text 94"/>
          <p:cNvSpPr/>
          <p:nvPr/>
        </p:nvSpPr>
        <p:spPr>
          <a:xfrm>
            <a:off x="32068008" y="19822160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200" dirty="0"/>
          </a:p>
        </p:txBody>
      </p:sp>
      <p:sp>
        <p:nvSpPr>
          <p:cNvPr id="101" name="Text 95"/>
          <p:cNvSpPr/>
          <p:nvPr/>
        </p:nvSpPr>
        <p:spPr>
          <a:xfrm>
            <a:off x="32068008" y="20389088"/>
            <a:ext cx="10049256" cy="83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other ARIMA-vs-LSTM-vs-gradient-boosting studies on stocks/forex, and with SSA-vs-ARIMA work on EUR/USD: tree/DL models tend to beat ARIMA, while SSA's edge depends heavily on how strong the trend is (see References).</a:t>
            </a:r>
            <a:endParaRPr lang="en-US" sz="1700" dirty="0"/>
          </a:p>
        </p:txBody>
      </p:sp>
      <p:sp>
        <p:nvSpPr>
          <p:cNvPr id="102" name="Text 96"/>
          <p:cNvSpPr/>
          <p:nvPr/>
        </p:nvSpPr>
        <p:spPr>
          <a:xfrm>
            <a:off x="32068008" y="21618194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03" name="Text 97"/>
          <p:cNvSpPr/>
          <p:nvPr/>
        </p:nvSpPr>
        <p:spPr>
          <a:xfrm>
            <a:off x="32068008" y="22185122"/>
            <a:ext cx="10049256" cy="155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with a simple trading rule and transaction costs, not just point-forecast error</a:t>
            </a:r>
            <a:endParaRPr lang="en-US" sz="18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NeuralProphet and LightGBM into a small ensemble to combine their complementary strengths</a:t>
            </a:r>
            <a:endParaRPr lang="en-US" sz="1800" dirty="0"/>
          </a:p>
          <a:p>
            <a:pPr marL="254000" indent="-2540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8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a fresh, truly out-of-sample period after the models were finalized (live paper-trading check)</a:t>
            </a:r>
            <a:endParaRPr lang="en-US" sz="1800" dirty="0"/>
          </a:p>
        </p:txBody>
      </p:sp>
      <p:sp>
        <p:nvSpPr>
          <p:cNvPr id="104" name="Shape 98"/>
          <p:cNvSpPr/>
          <p:nvPr/>
        </p:nvSpPr>
        <p:spPr>
          <a:xfrm>
            <a:off x="0" y="26563320"/>
            <a:ext cx="42803064" cy="3255264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5" name="Text 99"/>
          <p:cNvSpPr/>
          <p:nvPr/>
        </p:nvSpPr>
        <p:spPr>
          <a:xfrm>
            <a:off x="685800" y="26819352"/>
            <a:ext cx="2487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Scope</a:t>
            </a:r>
            <a:endParaRPr lang="en-US" sz="2400" dirty="0"/>
          </a:p>
        </p:txBody>
      </p:sp>
      <p:sp>
        <p:nvSpPr>
          <p:cNvPr id="106" name="Text 100"/>
          <p:cNvSpPr/>
          <p:nvPr/>
        </p:nvSpPr>
        <p:spPr>
          <a:xfrm>
            <a:off x="685800" y="27432000"/>
            <a:ext cx="24871680" cy="141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700"/>
              </a:spcAft>
              <a:buSzPct val="100000"/>
              <a:buChar char="▪"/>
            </a:pPr>
            <a:r>
              <a:rPr lang="en-US" sz="15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horizons differ across models: NeuralProphet/ARIMA/SSA emit the full multi-step horizon at once, while LightGBM/LSTM effectively use recently realized values — read metric gaps with this in mind, not as a strictly apples-to-apples benchmark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700"/>
              </a:spcAft>
              <a:buSzPct val="100000"/>
              <a:buChar char="▪"/>
            </a:pPr>
            <a:r>
              <a:rPr lang="en-US" sz="15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train/test split per series; no walk-forward cross-validation or significance testing (e.g. Diebold–Mariano) — small MAE gaps between top models are not proven statistically significant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700"/>
              </a:spcAft>
              <a:buSzPct val="100000"/>
              <a:buChar char="▪"/>
            </a:pPr>
            <a:r>
              <a:rPr lang="en-US" sz="15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series (one per asset class) — the method ranking is indicative, not a general claim</a:t>
            </a:r>
            <a:endParaRPr lang="en-US" sz="1550" dirty="0"/>
          </a:p>
          <a:p>
            <a:pPr marL="254000" indent="-254000">
              <a:lnSpc>
                <a:spcPct val="110000"/>
              </a:lnSpc>
              <a:spcAft>
                <a:spcPts val="700"/>
              </a:spcAft>
              <a:buSzPct val="100000"/>
              <a:buChar char="▪"/>
            </a:pPr>
            <a:r>
              <a:rPr lang="en-US" sz="15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/ technical-indicator features were given only to the ML models, not to ARIMA/SSA</a:t>
            </a:r>
            <a:endParaRPr lang="en-US" sz="1550" dirty="0"/>
          </a:p>
        </p:txBody>
      </p:sp>
      <p:sp>
        <p:nvSpPr>
          <p:cNvPr id="107" name="Text 101"/>
          <p:cNvSpPr/>
          <p:nvPr/>
        </p:nvSpPr>
        <p:spPr>
          <a:xfrm>
            <a:off x="26106120" y="26819352"/>
            <a:ext cx="1601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108" name="Text 102"/>
          <p:cNvSpPr/>
          <p:nvPr/>
        </p:nvSpPr>
        <p:spPr>
          <a:xfrm>
            <a:off x="26106120" y="27432000"/>
            <a:ext cx="16011144" cy="153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Bijournal — SSA for financial time series forecasting (2023)</a:t>
            </a:r>
            <a:endParaRPr lang="en-US" sz="1250" dirty="0"/>
          </a:p>
          <a:p>
            <a:pPr marL="254000" indent="-2540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Anacleto et al. — SSA vs. ARIMA-GARCH for EUR/USD forecasting</a:t>
            </a:r>
            <a:endParaRPr lang="en-US" sz="1250" dirty="0"/>
          </a:p>
          <a:p>
            <a:pPr marL="254000" indent="-2540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study: ARIMA vs. LSTM vs. XGBoost for stock prediction (2024–25)</a:t>
            </a:r>
            <a:endParaRPr lang="en-US" sz="1250" dirty="0"/>
          </a:p>
          <a:p>
            <a:pPr marL="254000" indent="-2540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Triebe et al. — NeuralProphet: Explainable Forecasting at Scale (arXiv 2111.15397)</a:t>
            </a:r>
            <a:endParaRPr lang="en-US" sz="1250" dirty="0"/>
          </a:p>
          <a:p>
            <a:pPr marL="254000" indent="-2540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Nielsen, “Practical Time Series Analysis,” O’Reilly</a:t>
            </a:r>
            <a:endParaRPr lang="en-US" sz="1250" dirty="0"/>
          </a:p>
          <a:p>
            <a:pPr marL="254000" indent="-2540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ML Handbook — ARIMA models; Time series analytics</a:t>
            </a:r>
            <a:endParaRPr lang="en-US" sz="1250" dirty="0"/>
          </a:p>
        </p:txBody>
      </p:sp>
      <p:sp>
        <p:nvSpPr>
          <p:cNvPr id="109" name="Text 103"/>
          <p:cNvSpPr/>
          <p:nvPr/>
        </p:nvSpPr>
        <p:spPr>
          <a:xfrm>
            <a:off x="26106120" y="29040582"/>
            <a:ext cx="11896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</a:t>
            </a:r>
            <a:pPr indent="0" marL="0">
              <a:buNone/>
            </a:pPr>
            <a:r>
              <a:rPr lang="en-US" sz="14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Meshcheryakov · NUST MISIS, 2025 · Telegram @no_status_now · nikitatalent@gmail.com</a:t>
            </a:r>
            <a:endParaRPr lang="en-US" sz="1400" dirty="0"/>
          </a:p>
        </p:txBody>
      </p:sp>
      <p:sp>
        <p:nvSpPr>
          <p:cNvPr id="110" name="Text 104"/>
          <p:cNvSpPr/>
          <p:nvPr/>
        </p:nvSpPr>
        <p:spPr>
          <a:xfrm>
            <a:off x="26106120" y="29351478"/>
            <a:ext cx="11896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indent="0" marL="0">
              <a:buNone/>
            </a:pPr>
            <a:r>
              <a:rPr lang="en-US" sz="1400" dirty="0">
                <a:solidFill>
                  <a:srgbClr val="16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github.com/NikitaMeshDS/financial_time_series_analysis</a:t>
            </a:r>
            <a:endParaRPr lang="en-US" sz="1400" dirty="0"/>
          </a:p>
        </p:txBody>
      </p:sp>
      <p:pic>
        <p:nvPicPr>
          <p:cNvPr id="111" name="Image 2" descr="/sessions/amazing-compassionate-ptolemy/mnt/outputs/poster_assets/qr_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6864" y="27299412"/>
            <a:ext cx="1463040" cy="1463040"/>
          </a:xfrm>
          <a:prstGeom prst="rect">
            <a:avLst/>
          </a:prstGeom>
        </p:spPr>
      </p:pic>
      <p:sp>
        <p:nvSpPr>
          <p:cNvPr id="112" name="Text 105"/>
          <p:cNvSpPr/>
          <p:nvPr/>
        </p:nvSpPr>
        <p:spPr>
          <a:xfrm>
            <a:off x="38916864" y="288081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code</a:t>
            </a:r>
            <a:endParaRPr lang="en-US" sz="1200" dirty="0"/>
          </a:p>
        </p:txBody>
      </p:sp>
      <p:pic>
        <p:nvPicPr>
          <p:cNvPr id="113" name="Image 3" descr="/sessions/amazing-compassionate-ptolemy/mnt/outputs/poster_assets/qr_tele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54224" y="27299412"/>
            <a:ext cx="1463040" cy="1463040"/>
          </a:xfrm>
          <a:prstGeom prst="rect">
            <a:avLst/>
          </a:prstGeom>
        </p:spPr>
      </p:pic>
      <p:sp>
        <p:nvSpPr>
          <p:cNvPr id="114" name="Text 106"/>
          <p:cNvSpPr/>
          <p:nvPr/>
        </p:nvSpPr>
        <p:spPr>
          <a:xfrm>
            <a:off x="40654224" y="288081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Telegram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Financial Time Series: Classical Statistics vs. Machine Learning</dc:title>
  <dc:subject>PptxGenJS Presentation</dc:subject>
  <dc:creator>Nikita Meshcheryakov</dc:creator>
  <cp:lastModifiedBy>Nikita Meshcheryakov</cp:lastModifiedBy>
  <cp:revision>1</cp:revision>
  <dcterms:created xsi:type="dcterms:W3CDTF">2026-07-15T15:39:42Z</dcterms:created>
  <dcterms:modified xsi:type="dcterms:W3CDTF">2026-07-15T15:39:42Z</dcterms:modified>
</cp:coreProperties>
</file>